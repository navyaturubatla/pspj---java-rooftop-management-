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n 2"/>
          <p:cNvSpPr/>
          <p:nvPr/>
        </p:nvSpPr>
        <p:spPr>
          <a:xfrm>
            <a:off x="9784080" y="777240"/>
            <a:ext cx="1325880" cy="1325880"/>
          </a:xfrm>
          <a:prstGeom prst="sun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3246120"/>
            <a:ext cx="3291840" cy="1737360"/>
          </a:xfrm>
          <a:prstGeom prst="rect">
            <a:avLst/>
          </a:prstGeom>
          <a:solidFill>
            <a:srgbClr val="193758"/>
          </a:solidFill>
          <a:ln>
            <a:solidFill>
              <a:srgbClr val="4A9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05088" y="3246120"/>
            <a:ext cx="9144" cy="1737360"/>
          </a:xfrm>
          <a:prstGeom prst="rect">
            <a:avLst/>
          </a:prstGeom>
          <a:solidFill>
            <a:srgbClr val="41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63456" y="3246120"/>
            <a:ext cx="9144" cy="1737360"/>
          </a:xfrm>
          <a:prstGeom prst="rect">
            <a:avLst/>
          </a:prstGeom>
          <a:solidFill>
            <a:srgbClr val="41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21824" y="3246120"/>
            <a:ext cx="9144" cy="1737360"/>
          </a:xfrm>
          <a:prstGeom prst="rect">
            <a:avLst/>
          </a:prstGeom>
          <a:solidFill>
            <a:srgbClr val="41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3822191"/>
            <a:ext cx="3291840" cy="9144"/>
          </a:xfrm>
          <a:prstGeom prst="rect">
            <a:avLst/>
          </a:prstGeom>
          <a:solidFill>
            <a:srgbClr val="41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398264"/>
            <a:ext cx="3291840" cy="9144"/>
          </a:xfrm>
          <a:prstGeom prst="rect">
            <a:avLst/>
          </a:prstGeom>
          <a:solidFill>
            <a:srgbClr val="41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960120"/>
            <a:ext cx="67665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EEF4FA"/>
                </a:solidFill>
                <a:latin typeface="Aptos Display"/>
              </a:defRPr>
            </a:pPr>
            <a:r>
              <a:t>ROOFTOP SOLAR</a:t>
            </a:r>
            <a:br/>
            <a:r>
              <a:t>ENERGY MONITOR</a:t>
            </a:r>
          </a:p>
          <a:p>
            <a:pPr>
              <a:defRPr sz="1900">
                <a:solidFill>
                  <a:srgbClr val="FFC107"/>
                </a:solidFill>
                <a:latin typeface="Aptos"/>
              </a:defRPr>
            </a:pPr>
            <a:r>
              <a:t>Java Problem-Solving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60520"/>
            <a:ext cx="630936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BE7E"/>
                </a:solidFill>
                <a:latin typeface="Aptos Display"/>
              </a:defRPr>
            </a:pPr>
            <a:r>
              <a:t>Project Batch 24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Problem Solving Using Programming (Java)  •  Academic Year 2026–27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160520"/>
            <a:ext cx="73152" cy="1234440"/>
          </a:xfrm>
          <a:prstGeom prst="rect">
            <a:avLst/>
          </a:prstGeom>
          <a:solidFill>
            <a:srgbClr val="4A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7150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BCA"/>
                </a:solidFill>
                <a:latin typeface="Aptos"/>
              </a:defRPr>
            </a:pPr>
            <a:r>
              <a:t>T. NAVYA  •  VYSHALI MEESA  | 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4FA"/>
                </a:solidFill>
                <a:latin typeface="Aptos Display"/>
              </a:defRPr>
            </a:pPr>
            <a:r>
              <a:t>Problem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A"/>
                </a:solidFill>
                <a:latin typeface="Aptos"/>
              </a:defRPr>
            </a:pPr>
            <a:r>
              <a:t>A monitoring solution for generation, consumption and battery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486400" cy="4526280"/>
          </a:xfrm>
          <a:prstGeom prst="roundRect">
            <a:avLst/>
          </a:prstGeom>
          <a:solidFill>
            <a:srgbClr val="141F31"/>
          </a:solidFill>
          <a:ln>
            <a:solidFill>
              <a:srgbClr val="27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 bIns="109728"/>
          <a:lstStyle/>
          <a:p>
            <a:pPr algn="ctr">
              <a:spcAft>
                <a:spcPts val="9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What the system does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Track solar power generated by rooftop panels.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Compare generated power with daily consumption.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Monitor the remaining battery level.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Generate a daily reading report.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Support better utilization of available solar energy.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507492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1. Generation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Records the amount of solar power produced.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417320"/>
            <a:ext cx="73152" cy="1143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2743200"/>
            <a:ext cx="507492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99E6"/>
                </a:solidFill>
                <a:latin typeface="Aptos Display"/>
              </a:defRPr>
            </a:pPr>
            <a:r>
              <a:t>2. Consumption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Checks power used during each reading.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2743200"/>
            <a:ext cx="73152" cy="1143000"/>
          </a:xfrm>
          <a:prstGeom prst="rect">
            <a:avLst/>
          </a:prstGeom>
          <a:solidFill>
            <a:srgbClr val="4A9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4069080"/>
            <a:ext cx="507492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BE7E"/>
                </a:solidFill>
                <a:latin typeface="Aptos Display"/>
              </a:defRPr>
            </a:pPr>
            <a:r>
              <a:t>3. Battery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Classifies remaining storage as high, medium or 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4069080"/>
            <a:ext cx="73152" cy="1143000"/>
          </a:xfrm>
          <a:prstGeom prst="rect">
            <a:avLst/>
          </a:prstGeom>
          <a:solidFill>
            <a:srgbClr val="4A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4FA"/>
                </a:solidFill>
                <a:latin typeface="Aptos Display"/>
              </a:defRPr>
            </a:pPr>
            <a:r>
              <a:t>Objectives &amp; Main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Record Generated Power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Accept solar generation readings through the console.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99E6"/>
                </a:solidFill>
                <a:latin typeface="Aptos Display"/>
              </a:defRPr>
            </a:pPr>
            <a:r>
              <a:t>Compare Consumption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Calculate the difference between generation and consumption.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0832" y="1417320"/>
            <a:ext cx="73152" cy="1828800"/>
          </a:xfrm>
          <a:prstGeom prst="rect">
            <a:avLst/>
          </a:prstGeom>
          <a:solidFill>
            <a:srgbClr val="4A9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1583" y="1417320"/>
            <a:ext cx="3429000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BE7E"/>
                </a:solidFill>
                <a:latin typeface="Aptos Display"/>
              </a:defRPr>
            </a:pPr>
            <a:r>
              <a:t>Monitor Battery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Read the remaining battery percentage and classify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1583" y="1417320"/>
            <a:ext cx="73152" cy="1828800"/>
          </a:xfrm>
          <a:prstGeom prst="rect">
            <a:avLst/>
          </a:prstGeom>
          <a:solidFill>
            <a:srgbClr val="4A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230368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58B43"/>
                </a:solidFill>
                <a:latin typeface="Aptos Display"/>
              </a:defRPr>
            </a:pPr>
            <a:r>
              <a:t>Daily Report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Use a for loop to display the readings, generated power, consumption, battery and conclusion.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73152" cy="1828800"/>
          </a:xfrm>
          <a:prstGeom prst="rect">
            <a:avLst/>
          </a:prstGeom>
          <a:solidFill>
            <a:srgbClr val="F5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3703320"/>
            <a:ext cx="5294376" cy="18288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Energy Management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Provide a clear view of energy production, usage and storage for better utilization.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3703320"/>
            <a:ext cx="73152" cy="1828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4FA"/>
                </a:solidFill>
                <a:latin typeface="Aptos Display"/>
              </a:defRPr>
            </a:pPr>
            <a:r>
              <a:t>Java Control Statements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A"/>
                </a:solidFill>
                <a:latin typeface="Aptos"/>
              </a:defRPr>
            </a:pPr>
            <a:r>
              <a:t>The project applies the required control structures to the monitoring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99E6"/>
                </a:solidFill>
                <a:latin typeface="Aptos Display"/>
              </a:defRPr>
            </a:pPr>
            <a:r>
              <a:t>while loop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Tracks readings repeatedly while r &lt;= 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4A9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525780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if – else if – else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Classifies the power status and battery range based on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80360"/>
            <a:ext cx="73152" cy="1234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BE7E"/>
                </a:solidFill>
                <a:latin typeface="Aptos Display"/>
              </a:defRPr>
            </a:pPr>
            <a:r>
              <a:t>for loop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Generates the complete daily report for all readings.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4A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880360"/>
            <a:ext cx="525780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58B43"/>
                </a:solidFill>
                <a:latin typeface="Aptos Display"/>
              </a:defRPr>
            </a:pPr>
            <a:r>
              <a:t>Scanner input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Reads number of readings, generated power, consumption and battery values from the console.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880360"/>
            <a:ext cx="73152" cy="1234440"/>
          </a:xfrm>
          <a:prstGeom prst="rect">
            <a:avLst/>
          </a:prstGeom>
          <a:solidFill>
            <a:srgbClr val="F5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EF4FA"/>
                </a:solidFill>
                <a:latin typeface="Aptos Display"/>
              </a:defRPr>
            </a:pPr>
            <a:r>
              <a:t>Input → Process → Classify → Reading Report → Daily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4FA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A"/>
                </a:solidFill>
                <a:latin typeface="Aptos"/>
              </a:defRPr>
            </a:pPr>
            <a:r>
              <a:t>Logical flow of the Rooftop Solar Energy Monitor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621792" cy="62179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2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19" y="1399032"/>
            <a:ext cx="27889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Enter readings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Choose how many readings are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19" y="1399032"/>
            <a:ext cx="73152" cy="1325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34840" y="1417320"/>
            <a:ext cx="621792" cy="62179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22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399032"/>
            <a:ext cx="27889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99E6"/>
                </a:solidFill>
                <a:latin typeface="Aptos Display"/>
              </a:defRPr>
            </a:pPr>
            <a:r>
              <a:t>Enter values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Generated power, consumption and battery.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399032"/>
            <a:ext cx="73152" cy="1325880"/>
          </a:xfrm>
          <a:prstGeom prst="rect">
            <a:avLst/>
          </a:prstGeom>
          <a:solidFill>
            <a:srgbClr val="4A9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1417320"/>
            <a:ext cx="621792" cy="62179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2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399032"/>
            <a:ext cx="27889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BE7E"/>
                </a:solidFill>
                <a:latin typeface="Aptos Display"/>
              </a:defRPr>
            </a:pPr>
            <a:r>
              <a:t>Calculate rest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rest = generated_power − consumption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399032"/>
            <a:ext cx="73152" cy="1325880"/>
          </a:xfrm>
          <a:prstGeom prst="rect">
            <a:avLst/>
          </a:prstGeom>
          <a:solidFill>
            <a:srgbClr val="4A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657600"/>
            <a:ext cx="621792" cy="62179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22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19" y="3639312"/>
            <a:ext cx="27889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58B43"/>
                </a:solidFill>
                <a:latin typeface="Aptos Display"/>
              </a:defRPr>
            </a:pPr>
            <a:r>
              <a:t>Classify status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Surplus / deficit / balanced as implemented.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19" y="3639312"/>
            <a:ext cx="73152" cy="1325880"/>
          </a:xfrm>
          <a:prstGeom prst="rect">
            <a:avLst/>
          </a:prstGeom>
          <a:solidFill>
            <a:srgbClr val="F5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3657600"/>
            <a:ext cx="621792" cy="62179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22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3639312"/>
            <a:ext cx="27889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Classify battery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High / medium / low battery.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3639312"/>
            <a:ext cx="73152" cy="1325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3657600"/>
            <a:ext cx="621792" cy="62179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22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639312"/>
            <a:ext cx="2788920" cy="132588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99E6"/>
                </a:solidFill>
                <a:latin typeface="Aptos Display"/>
              </a:defRPr>
            </a:pPr>
            <a:r>
              <a:t>Display report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Show each reading and the final daily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3639312"/>
            <a:ext cx="73152" cy="1325880"/>
          </a:xfrm>
          <a:prstGeom prst="rect">
            <a:avLst/>
          </a:prstGeom>
          <a:solidFill>
            <a:srgbClr val="4A9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4FA"/>
                </a:solidFill>
                <a:latin typeface="Aptos Display"/>
              </a:defRPr>
            </a:pPr>
            <a:r>
              <a:t>Java Implementation – Core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A"/>
                </a:solidFill>
                <a:latin typeface="Aptos"/>
              </a:defRPr>
            </a:pPr>
            <a:r>
              <a:t>Key sections from the provided RooftopManagement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623560" cy="4480560"/>
          </a:xfrm>
          <a:prstGeom prst="roundRect">
            <a:avLst/>
          </a:prstGeom>
          <a:solidFill>
            <a:srgbClr val="080D17"/>
          </a:solidFill>
          <a:ln>
            <a:solidFill>
              <a:srgbClr val="2F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spcAft>
                <a:spcPts val="700"/>
              </a:spcAft>
              <a:defRPr sz="1100" b="1">
                <a:solidFill>
                  <a:srgbClr val="FFC107"/>
                </a:solidFill>
                <a:latin typeface="Aptos"/>
              </a:defRPr>
            </a:pPr>
            <a:r>
              <a:t>INPUT + WHILE LOOP</a:t>
            </a:r>
          </a:p>
          <a:p>
            <a:pPr>
              <a:spcAft>
                <a:spcPts val="0"/>
              </a:spcAft>
              <a:defRPr sz="1200">
                <a:solidFill>
                  <a:srgbClr val="CDDEEC"/>
                </a:solidFill>
                <a:latin typeface="Consolas"/>
              </a:defRPr>
            </a:pPr>
            <a:r>
              <a:t>Scanner scn = new Scanner(System.in);</a:t>
            </a:r>
            <a:br/>
            <a:r>
              <a:t>int r = 1;</a:t>
            </a:r>
            <a:br/>
            <a:r>
              <a:t>System.out.println("Enter the no.of readings...");</a:t>
            </a:r>
            <a:br/>
            <a:r>
              <a:t>int n = scn.nextInt();</a:t>
            </a:r>
            <a:br/>
            <a:br/>
            <a:r>
              <a:t>int generated_power = 0;</a:t>
            </a:r>
            <a:br/>
            <a:r>
              <a:t>int consumption = 0;</a:t>
            </a:r>
            <a:br/>
            <a:r>
              <a:t>double battery = 0.0;</a:t>
            </a:r>
            <a:br/>
            <a:br/>
            <a:r>
              <a:t>while (r &lt;= n) {</a:t>
            </a:r>
            <a:br/>
            <a:r>
              <a:t>    generated_power = scn.nextInt();</a:t>
            </a:r>
            <a:br/>
            <a:r>
              <a:t>    consumption = scn.nextInt();</a:t>
            </a:r>
            <a:br/>
            <a:r>
              <a:t>    int rest = generated_power - consumption;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120640" cy="4480560"/>
          </a:xfrm>
          <a:prstGeom prst="roundRect">
            <a:avLst/>
          </a:prstGeom>
          <a:solidFill>
            <a:srgbClr val="080D17"/>
          </a:solidFill>
          <a:ln>
            <a:solidFill>
              <a:srgbClr val="2F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spcAft>
                <a:spcPts val="700"/>
              </a:spcAft>
              <a:defRPr sz="1100" b="1">
                <a:solidFill>
                  <a:srgbClr val="FFC107"/>
                </a:solidFill>
                <a:latin typeface="Aptos"/>
              </a:defRPr>
            </a:pPr>
            <a:r>
              <a:t>POWER STATUS LOGIC</a:t>
            </a:r>
          </a:p>
          <a:p>
            <a:pPr>
              <a:spcAft>
                <a:spcPts val="0"/>
              </a:spcAft>
              <a:defRPr sz="1200">
                <a:solidFill>
                  <a:srgbClr val="CDDEEC"/>
                </a:solidFill>
                <a:latin typeface="Consolas"/>
              </a:defRPr>
            </a:pPr>
            <a:r>
              <a:t>String g = "null";</a:t>
            </a:r>
            <a:br/>
            <a:br/>
            <a:r>
              <a:t>if (rest &lt; generated_power) {</a:t>
            </a:r>
            <a:br/>
            <a:r>
              <a:t>    g = "Surplus";</a:t>
            </a:r>
            <a:br/>
            <a:r>
              <a:t>} else if (rest &gt; generated_power) {</a:t>
            </a:r>
            <a:br/>
            <a:r>
              <a:t>    g = "deficit";</a:t>
            </a:r>
            <a:br/>
            <a:r>
              <a:t>} else if (rest == generated_power) {</a:t>
            </a:r>
            <a:br/>
            <a:r>
              <a:t>    g = "balanced";</a:t>
            </a:r>
            <a:br/>
            <a:r>
              <a:t>}</a:t>
            </a:r>
            <a:br/>
            <a:br/>
            <a:r>
              <a:t>System.out.println(</a:t>
            </a:r>
            <a:br/>
            <a:r>
              <a:t>  "THE " + r + " READING REPORT IS "</a:t>
            </a:r>
            <a:br/>
            <a:r>
              <a:t>  + g + "---" + b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4FA"/>
                </a:solidFill>
                <a:latin typeface="Aptos Display"/>
              </a:defRPr>
            </a:pPr>
            <a:r>
              <a:t>Battery Classification &amp; Daily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A"/>
                </a:solidFill>
                <a:latin typeface="Aptos"/>
              </a:defRPr>
            </a:pPr>
            <a:r>
              <a:t>Else-if ranges and the final for-loop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2743200"/>
          </a:xfrm>
          <a:prstGeom prst="roundRect">
            <a:avLst/>
          </a:prstGeom>
          <a:solidFill>
            <a:srgbClr val="080D17"/>
          </a:solidFill>
          <a:ln>
            <a:solidFill>
              <a:srgbClr val="2F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spcAft>
                <a:spcPts val="700"/>
              </a:spcAft>
              <a:defRPr sz="1100" b="1">
                <a:solidFill>
                  <a:srgbClr val="FFC107"/>
                </a:solidFill>
                <a:latin typeface="Aptos"/>
              </a:defRPr>
            </a:pPr>
            <a:r>
              <a:t>BATTERY LEVEL</a:t>
            </a:r>
          </a:p>
          <a:p>
            <a:pPr>
              <a:spcAft>
                <a:spcPts val="0"/>
              </a:spcAft>
              <a:defRPr sz="1200">
                <a:solidFill>
                  <a:srgbClr val="CDDEEC"/>
                </a:solidFill>
                <a:latin typeface="Consolas"/>
              </a:defRPr>
            </a:pPr>
            <a:r>
              <a:t>System.out.printf("Enter the remaining battery ");</a:t>
            </a:r>
            <a:br/>
            <a:r>
              <a:t>battery = scn.nextInt();</a:t>
            </a:r>
            <a:br/>
            <a:br/>
            <a:r>
              <a:t>if (battery &gt; 80.0) {</a:t>
            </a:r>
            <a:br/>
            <a:r>
              <a:t>    b = "high battery";</a:t>
            </a:r>
            <a:br/>
            <a:r>
              <a:t>} else if (battery &gt; 50.0) {</a:t>
            </a:r>
            <a:br/>
            <a:r>
              <a:t>    b = "medium battery";</a:t>
            </a:r>
            <a:br/>
            <a:r>
              <a:t>} else if (battery &lt; 50.0) {</a:t>
            </a:r>
            <a:br/>
            <a:r>
              <a:t>    b = "low battery";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257800" cy="2743200"/>
          </a:xfrm>
          <a:prstGeom prst="roundRect">
            <a:avLst/>
          </a:prstGeom>
          <a:solidFill>
            <a:srgbClr val="080D17"/>
          </a:solidFill>
          <a:ln>
            <a:solidFill>
              <a:srgbClr val="2F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spcAft>
                <a:spcPts val="700"/>
              </a:spcAft>
              <a:defRPr sz="1100" b="1">
                <a:solidFill>
                  <a:srgbClr val="FFC107"/>
                </a:solidFill>
                <a:latin typeface="Aptos"/>
              </a:defRPr>
            </a:pPr>
            <a:r>
              <a:t>DAILY REPORT LOOP</a:t>
            </a:r>
          </a:p>
          <a:p>
            <a:pPr>
              <a:spcAft>
                <a:spcPts val="0"/>
              </a:spcAft>
              <a:defRPr sz="1100">
                <a:solidFill>
                  <a:srgbClr val="CDDEEC"/>
                </a:solidFill>
                <a:latin typeface="Consolas"/>
              </a:defRPr>
            </a:pPr>
            <a:r>
              <a:t>for (int i = 0; i &lt; n; i++) {</a:t>
            </a:r>
            <a:br/>
            <a:r>
              <a:t>    System.out.println("Reading " + (i+1) + ":");</a:t>
            </a:r>
            <a:br/>
            <a:r>
              <a:t>    System.out.println("Power Generated: " + generated_power + " W");</a:t>
            </a:r>
            <a:br/>
            <a:r>
              <a:t>    System.out.println("Consumption : " + consumption + " W");</a:t>
            </a:r>
            <a:br/>
            <a:r>
              <a:t>    System.out.println("Battery : " + battery + "%");</a:t>
            </a:r>
            <a:br/>
            <a:r>
              <a:t>    System.out.println("Conclusion: " + conclusion);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80560"/>
            <a:ext cx="338328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BE7E"/>
                </a:solidFill>
                <a:latin typeface="Aptos Display"/>
              </a:defRPr>
            </a:pPr>
            <a:r>
              <a:t>&gt; 80%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High battery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73152" cy="1143000"/>
          </a:xfrm>
          <a:prstGeom prst="rect">
            <a:avLst/>
          </a:prstGeom>
          <a:solidFill>
            <a:srgbClr val="4A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4480560"/>
            <a:ext cx="338328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&gt; 50%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Medium battery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480560"/>
            <a:ext cx="73152" cy="1143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4480560"/>
            <a:ext cx="3383280" cy="114300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58B43"/>
                </a:solidFill>
                <a:latin typeface="Aptos Display"/>
              </a:defRPr>
            </a:pPr>
            <a:r>
              <a:t>&lt; 50%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Low battery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4480560"/>
            <a:ext cx="73152" cy="1143000"/>
          </a:xfrm>
          <a:prstGeom prst="rect">
            <a:avLst/>
          </a:prstGeom>
          <a:solidFill>
            <a:srgbClr val="F5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4FA"/>
                </a:solidFill>
                <a:latin typeface="Aptos Display"/>
              </a:defRPr>
            </a:pPr>
            <a:r>
              <a:t>Sample Console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A"/>
                </a:solidFill>
                <a:latin typeface="Aptos"/>
              </a:defRPr>
            </a:pPr>
            <a:r>
              <a:t>Example shown in the provided project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840480" cy="4480560"/>
          </a:xfrm>
          <a:prstGeom prst="roundRect">
            <a:avLst/>
          </a:prstGeom>
          <a:solidFill>
            <a:srgbClr val="141F31"/>
          </a:solidFill>
          <a:ln>
            <a:solidFill>
              <a:srgbClr val="27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 bIns="109728"/>
          <a:lstStyle/>
          <a:p>
            <a:pPr algn="ctr">
              <a:spcAft>
                <a:spcPts val="9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Inputs</a:t>
            </a:r>
          </a:p>
          <a:p>
            <a:pPr>
              <a:spcAft>
                <a:spcPts val="800"/>
              </a:spcAft>
              <a:defRPr sz="1400">
                <a:solidFill>
                  <a:srgbClr val="EEF4FA"/>
                </a:solidFill>
                <a:latin typeface="Aptos"/>
              </a:defRPr>
            </a:pPr>
            <a:r>
              <a:t>• Number of readings: 3</a:t>
            </a:r>
          </a:p>
          <a:p>
            <a:pPr>
              <a:spcAft>
                <a:spcPts val="800"/>
              </a:spcAft>
              <a:defRPr sz="1400">
                <a:solidFill>
                  <a:srgbClr val="EEF4FA"/>
                </a:solidFill>
                <a:latin typeface="Aptos"/>
              </a:defRPr>
            </a:pPr>
            <a:r>
              <a:t>• Reading 1: 87 W generated, 67 W consumption, 89% battery</a:t>
            </a:r>
          </a:p>
          <a:p>
            <a:pPr>
              <a:spcAft>
                <a:spcPts val="800"/>
              </a:spcAft>
              <a:defRPr sz="1400">
                <a:solidFill>
                  <a:srgbClr val="EEF4FA"/>
                </a:solidFill>
                <a:latin typeface="Aptos"/>
              </a:defRPr>
            </a:pPr>
            <a:r>
              <a:t>• Reading 2: 85 W generated, 89 W consumption, 34% battery</a:t>
            </a:r>
          </a:p>
          <a:p>
            <a:pPr>
              <a:spcAft>
                <a:spcPts val="800"/>
              </a:spcAft>
              <a:defRPr sz="1400">
                <a:solidFill>
                  <a:srgbClr val="EEF4FA"/>
                </a:solidFill>
                <a:latin typeface="Aptos"/>
              </a:defRPr>
            </a:pPr>
            <a:r>
              <a:t>• Reading 3: 45 W generated, 67 W consumption, 78% battery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325880"/>
            <a:ext cx="6720840" cy="4480560"/>
          </a:xfrm>
          <a:prstGeom prst="roundRect">
            <a:avLst/>
          </a:prstGeom>
          <a:solidFill>
            <a:srgbClr val="080D17"/>
          </a:solidFill>
          <a:ln>
            <a:solidFill>
              <a:srgbClr val="2F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spcAft>
                <a:spcPts val="700"/>
              </a:spcAft>
              <a:defRPr sz="1100" b="1">
                <a:solidFill>
                  <a:srgbClr val="FFC107"/>
                </a:solidFill>
                <a:latin typeface="Aptos"/>
              </a:defRPr>
            </a:pPr>
            <a:r>
              <a:t>OUTPUT EXCERPT</a:t>
            </a:r>
          </a:p>
          <a:p>
            <a:pPr>
              <a:spcAft>
                <a:spcPts val="0"/>
              </a:spcAft>
              <a:defRPr sz="1300">
                <a:solidFill>
                  <a:srgbClr val="CDDEEC"/>
                </a:solidFill>
                <a:latin typeface="Consolas"/>
              </a:defRPr>
            </a:pPr>
            <a:r>
              <a:t>THE 1 READING REPORT IS</a:t>
            </a:r>
            <a:br/>
            <a:r>
              <a:t>Surplus---high battery</a:t>
            </a:r>
            <a:br/>
            <a:br/>
            <a:r>
              <a:t>THE 2 READING REPORT IS</a:t>
            </a:r>
            <a:br/>
            <a:r>
              <a:t>Surplus---low battery</a:t>
            </a:r>
            <a:br/>
            <a:br/>
            <a:r>
              <a:t>THE 3 READING REPORT IS</a:t>
            </a:r>
            <a:br/>
            <a:r>
              <a:t>Surplus---medium battery</a:t>
            </a:r>
            <a:br/>
            <a:br/>
            <a:r>
              <a:t>========== DAILY REPORT ==========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4F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BCA"/>
                </a:solidFill>
                <a:latin typeface="Aptos"/>
              </a:defRPr>
            </a:pPr>
            <a:r>
              <a:t>How the Java solution addresses the rooftop solar monitoring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400800" cy="4251960"/>
          </a:xfrm>
          <a:prstGeom prst="roundRect">
            <a:avLst/>
          </a:prstGeom>
          <a:solidFill>
            <a:srgbClr val="141F31"/>
          </a:solidFill>
          <a:ln>
            <a:solidFill>
              <a:srgbClr val="27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 bIns="109728"/>
          <a:lstStyle/>
          <a:p>
            <a:pPr algn="ctr">
              <a:spcAft>
                <a:spcPts val="900"/>
              </a:spcAft>
              <a:defRPr sz="1800" b="1">
                <a:solidFill>
                  <a:srgbClr val="4ABE7E"/>
                </a:solidFill>
                <a:latin typeface="Aptos Display"/>
              </a:defRPr>
            </a:pPr>
            <a:r>
              <a:t>Key takeaways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The program accepts multiple solar-energy readings through console input.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It compares generated power and consumption for each reading.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Battery percentage is classified into high, medium and low ranges.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A daily report summarizes the stored reading information.</a:t>
            </a:r>
          </a:p>
          <a:p>
            <a:pPr>
              <a:spcAft>
                <a:spcPts val="800"/>
              </a:spcAft>
              <a:defRPr sz="1700">
                <a:solidFill>
                  <a:srgbClr val="EEF4FA"/>
                </a:solidFill>
                <a:latin typeface="Aptos"/>
              </a:defRPr>
            </a:pPr>
            <a:r>
              <a:t>• The solution demonstrates while, if/else-if and for control structures in Java.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16052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FFC107"/>
                </a:solidFill>
                <a:latin typeface="Aptos Display"/>
              </a:defRPr>
            </a:pPr>
            <a:r>
              <a:t>Generate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Record solar power produced.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1417320"/>
            <a:ext cx="73152" cy="1234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99E6"/>
                </a:solidFill>
                <a:latin typeface="Aptos Display"/>
              </a:defRPr>
            </a:pPr>
            <a:r>
              <a:t>Monitor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Track consumption and battery.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4A9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4343400"/>
            <a:ext cx="4160520" cy="1234440"/>
          </a:xfrm>
          <a:prstGeom prst="roundRect">
            <a:avLst/>
          </a:prstGeom>
          <a:solidFill>
            <a:srgbClr val="141F31"/>
          </a:solidFill>
          <a:ln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spcAft>
                <a:spcPts val="800"/>
              </a:spcAft>
              <a:defRPr sz="1800" b="1">
                <a:solidFill>
                  <a:srgbClr val="4ABE7E"/>
                </a:solidFill>
                <a:latin typeface="Aptos Display"/>
              </a:defRPr>
            </a:pPr>
            <a:r>
              <a:t>Report</a:t>
            </a:r>
          </a:p>
          <a:p>
            <a:pPr>
              <a:defRPr sz="1400">
                <a:solidFill>
                  <a:srgbClr val="EEF4FA"/>
                </a:solidFill>
                <a:latin typeface="Aptos"/>
              </a:defRPr>
            </a:pPr>
            <a:r>
              <a:t>Present the daily energy status.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4343400"/>
            <a:ext cx="73152" cy="1234440"/>
          </a:xfrm>
          <a:prstGeom prst="rect">
            <a:avLst/>
          </a:prstGeom>
          <a:solidFill>
            <a:srgbClr val="4A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580644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BCA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